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91" r:id="rId3"/>
    <p:sldId id="259" r:id="rId4"/>
    <p:sldId id="285" r:id="rId5"/>
    <p:sldId id="260" r:id="rId6"/>
    <p:sldId id="258" r:id="rId7"/>
    <p:sldId id="289" r:id="rId8"/>
    <p:sldId id="261" r:id="rId9"/>
    <p:sldId id="262" r:id="rId10"/>
    <p:sldId id="263" r:id="rId11"/>
    <p:sldId id="264" r:id="rId12"/>
    <p:sldId id="268" r:id="rId13"/>
    <p:sldId id="265" r:id="rId14"/>
    <p:sldId id="266" r:id="rId15"/>
    <p:sldId id="267" r:id="rId16"/>
    <p:sldId id="277" r:id="rId17"/>
    <p:sldId id="269" r:id="rId18"/>
    <p:sldId id="270" r:id="rId19"/>
    <p:sldId id="271" r:id="rId20"/>
    <p:sldId id="287" r:id="rId21"/>
    <p:sldId id="272" r:id="rId22"/>
    <p:sldId id="273" r:id="rId23"/>
    <p:sldId id="274" r:id="rId24"/>
    <p:sldId id="275" r:id="rId25"/>
    <p:sldId id="276" r:id="rId26"/>
    <p:sldId id="278" r:id="rId27"/>
    <p:sldId id="279" r:id="rId28"/>
    <p:sldId id="280" r:id="rId29"/>
    <p:sldId id="292" r:id="rId30"/>
    <p:sldId id="283" r:id="rId31"/>
    <p:sldId id="281" r:id="rId32"/>
    <p:sldId id="282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07A82-0A82-BF9A-3AA6-162D6652AEA5}" v="143" dt="2026-06-29T22:52:28.848"/>
    <p1510:client id="{40A8A2C3-4395-076E-CFDB-A76442D40915}" v="901" dt="2026-06-29T04:34:14.103"/>
    <p1510:client id="{51232402-D1E0-E6C9-5E58-1A52E8720989}" v="38" dt="2026-06-29T19:25:09.122"/>
    <p1510:client id="{B2C2AF8B-5D1E-74E5-87AF-E5CC252F5EA4}" v="178" dt="2026-06-30T03:35:03.456"/>
    <p1510:client id="{C5BC01C6-EC5D-C5B6-EFEB-34981DF92E4C}" v="228" dt="2026-06-29T19:22:48.465"/>
    <p1510:client id="{C6839EE2-E237-D69D-5260-62E752547884}" v="1799" dt="2026-06-30T23:02:52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968F9-FC4B-4E0A-B01E-1F727BB7AABD}" type="datetimeFigureOut"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934C3-D223-4D31-823C-C385D13F72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Quantify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No </a:t>
            </a:r>
            <a:r>
              <a:rPr lang="en-US" dirty="0" err="1">
                <a:ea typeface="Calibri"/>
                <a:cs typeface="Calibri"/>
              </a:rPr>
              <a:t>causaility</a:t>
            </a:r>
            <a:r>
              <a:rPr lang="en-US" dirty="0">
                <a:ea typeface="Calibri"/>
                <a:cs typeface="Calibri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Weberian Economy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Institutional Persistence Shapes Local Entrepreneurship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3657600" y="2880360"/>
            <a:ext cx="18288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Weeks</a:t>
            </a:r>
            <a:r>
              <a:rPr lang="en-US" sz="150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University of Oregon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8C97AE"/>
                </a:solidFill>
                <a:ea typeface="Calibri"/>
                <a:cs typeface="Calibri"/>
              </a:rPr>
              <a:t>WEAI conference 2026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What do I mean by a Weberian economy?</a:t>
            </a:r>
            <a:endParaRPr lang="en-US" sz="2500"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2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rgbClr val="D9C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i="1">
                <a:solidFill>
                  <a:srgbClr val="1B2A4A"/>
                </a:solidFill>
                <a:ea typeface="+mn-lt"/>
                <a:cs typeface="+mn-lt"/>
              </a:rPr>
              <a:t>The idea of duty in one’s calling prowls about in our lives like the ghost of dead religious beliefs.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2000"/>
              </a:lnSpc>
            </a:pPr>
            <a:endParaRPr lang="en-US" sz="2300" dirty="0">
              <a:solidFill>
                <a:srgbClr val="1B2A4A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766" y="2006445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 Weber,  </a:t>
            </a: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Protestant Ethic and the Spirit of Capitalism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(1905)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821" y="2685044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821" y="26850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institutions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churches, across generations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861" y="2685044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861" y="26850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&amp; capacity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ethic · literacy · trust · networks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4101" y="2685044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4101" y="26850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life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new-firm formation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89381" y="2968508"/>
            <a:ext cx="41148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4061" y="2968508"/>
            <a:ext cx="32004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52366" y="3615773"/>
            <a:ext cx="8030392" cy="30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i="1">
                <a:latin typeface="Calibri"/>
                <a:ea typeface="Calibri"/>
                <a:cs typeface="Calibri"/>
              </a:rPr>
              <a:t>Do U.S. counties whose religious institutions persisted over time generate more entrepreneurship today?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27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fits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3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899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Religion, human capital &amp; growth.  </a:t>
            </a:r>
            <a:r>
              <a:rPr lang="en-US" sz="1400" dirty="0">
                <a:latin typeface="Calibri"/>
                <a:ea typeface="Calibri"/>
                <a:cs typeface="Calibri"/>
              </a:rPr>
              <a:t>Weber (1905); Becker &amp;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Woessmann</a:t>
            </a:r>
            <a:r>
              <a:rPr lang="en-US" sz="1400" dirty="0">
                <a:latin typeface="Calibri"/>
                <a:ea typeface="Calibri"/>
                <a:cs typeface="Calibri"/>
              </a:rPr>
              <a:t> (2009) — </a:t>
            </a:r>
            <a:r>
              <a:rPr lang="en-US" sz="1400" dirty="0">
                <a:ea typeface="+mn-lt"/>
                <a:cs typeface="+mn-lt"/>
              </a:rPr>
              <a:t>Protestantism raised 19th-century Prussian economic prosperity not through a distinct work ethic, but by promoting literacy and schooling.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07969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density &amp; U.S. business.  </a:t>
            </a:r>
            <a:r>
              <a:rPr lang="en-US" sz="14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Deller et al. (2018); Conroy &amp; Deller (2020) — contemporary church density predicts small-business activity and survival.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48640" y="235893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Religiosity &amp; dynamism.  </a:t>
            </a:r>
            <a:r>
              <a:rPr lang="en-US" sz="14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Petach &amp; Powell (2023) — higher modern religious adherence is associated with lower GDP growth.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6898" y="3092631"/>
            <a:ext cx="8046720" cy="896112"/>
          </a:xfrm>
          <a:prstGeom prst="roundRect">
            <a:avLst>
              <a:gd name="adj" fmla="val 4082"/>
            </a:avLst>
          </a:prstGeom>
          <a:solidFill>
            <a:srgbClr val="F5F4F1"/>
          </a:solidFill>
          <a:ln/>
        </p:spPr>
      </p:sp>
      <p:sp>
        <p:nvSpPr>
          <p:cNvPr id="9" name="Text 7"/>
          <p:cNvSpPr/>
          <p:nvPr/>
        </p:nvSpPr>
        <p:spPr>
          <a:xfrm>
            <a:off x="706918" y="3092631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350" b="1" dirty="0">
                <a:solidFill>
                  <a:srgbClr val="9A6B12"/>
                </a:solidFill>
                <a:latin typeface="Calibri"/>
                <a:ea typeface="Calibri"/>
                <a:cs typeface="Calibri"/>
              </a:rPr>
              <a:t>The gap. </a:t>
            </a:r>
            <a:r>
              <a:rPr lang="en-US" sz="1350" dirty="0">
                <a:latin typeface="Calibri"/>
                <a:ea typeface="Calibri"/>
                <a:cs typeface="Calibri"/>
              </a:rPr>
              <a:t>Past literature</a:t>
            </a:r>
            <a:r>
              <a:rPr lang="en-US" sz="1350" b="1" dirty="0">
                <a:solidFill>
                  <a:srgbClr val="9A6B1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measure religious </a:t>
            </a:r>
            <a:r>
              <a:rPr lang="en-US" sz="1350" b="1" i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intensity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now, or at one moment. None measure institutional </a:t>
            </a:r>
            <a:r>
              <a:rPr lang="en-US" sz="1350" b="1" i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continuity</a:t>
            </a:r>
            <a:r>
              <a:rPr lang="en-US" sz="135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: whether religious organizations endure across generations. That temporal dimension is this 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paper's entry point.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CF5B98F-3536-D41E-6059-308BD9D5702B}"/>
              </a:ext>
            </a:extLst>
          </p:cNvPr>
          <p:cNvSpPr/>
          <p:nvPr/>
        </p:nvSpPr>
        <p:spPr>
          <a:xfrm>
            <a:off x="554083" y="4216255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b="1" dirty="0">
                <a:solidFill>
                  <a:srgbClr val="16294D"/>
                </a:solidFill>
                <a:ea typeface="Calibri"/>
                <a:cs typeface="Calibri"/>
              </a:rPr>
              <a:t>Why look at continuity? </a:t>
            </a:r>
            <a:r>
              <a:rPr lang="en-US" sz="1300">
                <a:ea typeface="+mn-lt"/>
                <a:cs typeface="+mn-lt"/>
              </a:rPr>
              <a:t>human capital, trust, and civic capacity is a </a:t>
            </a:r>
            <a:r>
              <a:rPr lang="en-US" sz="1300" dirty="0">
                <a:ea typeface="+mn-lt"/>
                <a:cs typeface="+mn-lt"/>
              </a:rPr>
              <a:t>stock that accumulates only through sustained institutional presence, so whether religious institutions endured across generations should shape today's economy more than how intense they were at any single point </a:t>
            </a:r>
            <a:r>
              <a:rPr lang="en-US" sz="1300" b="1" dirty="0">
                <a:ea typeface="Calibri"/>
                <a:cs typeface="Calibri"/>
              </a:rPr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B2A4A"/>
                </a:solidFill>
                <a:latin typeface="Cambria"/>
                <a:ea typeface="Cambria"/>
              </a:rPr>
              <a:t>Motivating example</a:t>
            </a:r>
          </a:p>
        </p:txBody>
      </p:sp>
      <p:sp>
        <p:nvSpPr>
          <p:cNvPr id="4" name="Text 2"/>
          <p:cNvSpPr/>
          <p:nvPr/>
        </p:nvSpPr>
        <p:spPr>
          <a:xfrm>
            <a:off x="8240486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4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92332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i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Two counties in Montana, observationally matched on income, education, and population. differing mainly in long-run institutional continuity.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955084"/>
              </p:ext>
            </p:extLst>
          </p:nvPr>
        </p:nvGraphicFramePr>
        <p:xfrm>
          <a:off x="1099457" y="1513114"/>
          <a:ext cx="6949440" cy="3005323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Custer, MT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Fergus, MT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(2010)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11,699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11,586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income (1989)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$52,199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$52,322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HS+ attainment (1990)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Church density 1890 (per 1,000 people)</a:t>
                      </a:r>
                      <a:endParaRPr lang="en-US" sz="1300" dirty="0">
                        <a:solidFill>
                          <a:srgbClr val="23262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>
                      <a:solidFill>
                        <a:srgbClr val="D8D5CC"/>
                      </a:solidFill>
                    </a:lnL>
                    <a:lnR w="6350">
                      <a:solidFill>
                        <a:srgbClr val="D8D5CC"/>
                      </a:solidFill>
                    </a:lnR>
                    <a:lnT w="6350">
                      <a:solidFill>
                        <a:srgbClr val="D8D5CC"/>
                      </a:solidFill>
                    </a:lnT>
                    <a:lnB w="6350">
                      <a:solidFill>
                        <a:srgbClr val="D8D5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2.83</a:t>
                      </a:r>
                      <a:endParaRPr lang="en-US" sz="1300" dirty="0">
                        <a:solidFill>
                          <a:srgbClr val="23262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>
                      <a:solidFill>
                        <a:srgbClr val="D8D5CC"/>
                      </a:solidFill>
                    </a:lnL>
                    <a:lnR w="6350">
                      <a:solidFill>
                        <a:srgbClr val="D8D5CC"/>
                      </a:solidFill>
                    </a:lnR>
                    <a:lnT w="6350">
                      <a:solidFill>
                        <a:srgbClr val="D8D5CC"/>
                      </a:solidFill>
                    </a:lnT>
                    <a:lnB w="6350">
                      <a:solidFill>
                        <a:srgbClr val="D8D5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1.99</a:t>
                      </a:r>
                      <a:endParaRPr lang="en-US" sz="1300" dirty="0">
                        <a:solidFill>
                          <a:srgbClr val="23262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>
                      <a:solidFill>
                        <a:srgbClr val="D8D5CC"/>
                      </a:solidFill>
                    </a:lnL>
                    <a:lnR w="6350">
                      <a:solidFill>
                        <a:srgbClr val="D8D5CC"/>
                      </a:solidFill>
                    </a:lnR>
                    <a:lnT w="6350">
                      <a:solidFill>
                        <a:srgbClr val="D8D5CC"/>
                      </a:solidFill>
                    </a:lnT>
                    <a:lnB w="6350">
                      <a:solidFill>
                        <a:srgbClr val="D8D5C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497316"/>
                  </a:ext>
                </a:extLst>
              </a:tr>
              <a:tr h="39319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Church density 2020 (per 1,000 people)</a:t>
                      </a:r>
                      <a:endParaRPr lang="en-US"/>
                    </a:p>
                  </a:txBody>
                  <a:tcPr anchor="ctr">
                    <a:lnL w="6350">
                      <a:solidFill>
                        <a:srgbClr val="D8D5CC"/>
                      </a:solidFill>
                    </a:lnL>
                    <a:lnR w="6350">
                      <a:solidFill>
                        <a:srgbClr val="D8D5CC"/>
                      </a:solidFill>
                    </a:lnR>
                    <a:lnT w="6350">
                      <a:solidFill>
                        <a:srgbClr val="D8D5CC"/>
                      </a:solidFill>
                    </a:lnT>
                    <a:lnB w="6350">
                      <a:solidFill>
                        <a:srgbClr val="D8D5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  <a:endParaRPr lang="en-US" sz="1300" dirty="0">
                        <a:solidFill>
                          <a:srgbClr val="23262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>
                      <a:solidFill>
                        <a:srgbClr val="D8D5CC"/>
                      </a:solidFill>
                    </a:lnL>
                    <a:lnR w="6350">
                      <a:solidFill>
                        <a:srgbClr val="D8D5CC"/>
                      </a:solidFill>
                    </a:lnR>
                    <a:lnT w="6350">
                      <a:solidFill>
                        <a:srgbClr val="D8D5CC"/>
                      </a:solidFill>
                    </a:lnT>
                    <a:lnB w="6350">
                      <a:solidFill>
                        <a:srgbClr val="D8D5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3.23</a:t>
                      </a:r>
                      <a:endParaRPr lang="en-US" sz="1300" dirty="0">
                        <a:solidFill>
                          <a:srgbClr val="23262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>
                      <a:solidFill>
                        <a:srgbClr val="D8D5CC"/>
                      </a:solidFill>
                    </a:lnL>
                    <a:lnR w="6350">
                      <a:solidFill>
                        <a:srgbClr val="D8D5CC"/>
                      </a:solidFill>
                    </a:lnR>
                    <a:lnT w="6350">
                      <a:solidFill>
                        <a:srgbClr val="D8D5CC"/>
                      </a:solidFill>
                    </a:lnT>
                    <a:lnB w="6350">
                      <a:solidFill>
                        <a:srgbClr val="D8D5C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06695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Church persistence index (normalized)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establishments / 1,000 (2022)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38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548640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u="sng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data &amp; sample detail</a:t>
            </a:r>
            <a:endParaRPr lang="en-US" sz="105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2481072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 congregations (per 1,000)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Assoc. of Religion Data Archives (ARDA)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1890, 1990, 2010, 2020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establishment births (outcome)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Business Dynamics Statistics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1989, 2010, 2022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household income (real $2023)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Census / NHGIS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1989, 2010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attainment (HS+ share)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Census / ACS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1990, 2010, 2023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Census / NHGIS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1890, 1990, 2010, 2023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44983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≈ 2,968 counties (82–95% of the continental U.S.).  </a:t>
            </a:r>
            <a:r>
              <a:rPr lang="en-US" sz="11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 is the only near-comprehensive enumeration of local religion before the federal religious census (1906–1936); noisy, but anchors the long run.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What does this paper do?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6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6984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101421" y="1142669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 new measure of institutional continuity (church persistence index)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101421" y="206759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endParaRPr lang="en-US" sz="1400" b="1" dirty="0">
              <a:solidFill>
                <a:srgbClr val="1B2A4A"/>
              </a:solidFill>
              <a:ea typeface="Calibri"/>
              <a:cs typeface="Calibri"/>
            </a:endParaRPr>
          </a:p>
          <a:p>
            <a:pPr>
              <a:lnSpc>
                <a:spcPct val="105000"/>
              </a:lnSpc>
            </a:pPr>
            <a:endParaRPr lang="en-US" sz="1400" b="1" dirty="0">
              <a:solidFill>
                <a:srgbClr val="1B2A4A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097280" y="3323844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b="1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Are we working through a human capital channel as weber predicts?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500AE8E-27EF-0FA4-19D7-B481EFB04BFE}"/>
              </a:ext>
            </a:extLst>
          </p:cNvPr>
          <p:cNvSpPr/>
          <p:nvPr/>
        </p:nvSpPr>
        <p:spPr>
          <a:xfrm>
            <a:off x="1096159" y="2167014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b="1" dirty="0">
                <a:solidFill>
                  <a:srgbClr val="1B2A4A"/>
                </a:solidFill>
                <a:ea typeface="Calibri"/>
                <a:cs typeface="Calibri"/>
              </a:rPr>
              <a:t>Correlation between church persistence and entrepreneurship (new business establishments in 2022) </a:t>
            </a:r>
            <a:r>
              <a:rPr lang="en-US" sz="1400" b="1">
                <a:solidFill>
                  <a:srgbClr val="1B2A4A"/>
                </a:solidFill>
                <a:ea typeface="Calibri"/>
                <a:cs typeface="Calibri"/>
              </a:rPr>
              <a:t>and robustness of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What is institutional persistence?</a:t>
            </a:r>
            <a:endParaRPr lang="en-US" sz="2500" b="1">
              <a:solidFill>
                <a:srgbClr val="1B2A4A"/>
              </a:solidFill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7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44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Persistence</a:t>
            </a:r>
            <a:r>
              <a:rPr lang="en-US" sz="14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is whether a county's religious institutions endured </a:t>
            </a:r>
            <a:r>
              <a:rPr lang="en-US" sz="1400" b="1" i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continuously</a:t>
            </a:r>
            <a:r>
              <a:rPr lang="en-US" sz="14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across generations.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14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measured </a:t>
            </a:r>
            <a:r>
              <a:rPr lang="en-US" sz="14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from church density in 1890, 1990, 2010, and 2020.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35229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A high-persistence county stayed </a:t>
            </a:r>
            <a:r>
              <a:rPr lang="en-US" sz="14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above average in all 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four decades</a:t>
            </a:r>
            <a:r>
              <a:rPr lang="en-US" sz="14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 consistency, not a single peak.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pic>
        <p:nvPicPr>
          <p:cNvPr id="9" name="Image 0" descr="/Users/kimballweeks/Downloads/inst persist/deck/persistence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43000"/>
            <a:ext cx="3886200" cy="24752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counties, same 1890 starting point — only one stays churched across the century.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</a:pPr>
            <a:endParaRPr lang="en-US" sz="1250" dirty="0">
              <a:solidFill>
                <a:srgbClr val="2326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CD9AF1-E562-1A67-7703-6DCB1717E62D}"/>
              </a:ext>
            </a:extLst>
          </p:cNvPr>
          <p:cNvSpPr/>
          <p:nvPr/>
        </p:nvSpPr>
        <p:spPr>
          <a:xfrm>
            <a:off x="6348009" y="695469"/>
            <a:ext cx="2144485" cy="89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D0B83-16B4-83DD-580F-678441B644A0}"/>
              </a:ext>
            </a:extLst>
          </p:cNvPr>
          <p:cNvSpPr txBox="1"/>
          <p:nvPr/>
        </p:nvSpPr>
        <p:spPr>
          <a:xfrm>
            <a:off x="6317201" y="1246889"/>
            <a:ext cx="191044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ea typeface="Calibri"/>
                <a:cs typeface="Calibri"/>
              </a:rPr>
              <a:t>High </a:t>
            </a:r>
            <a:r>
              <a:rPr lang="en-US" sz="1000">
                <a:ea typeface="Calibri"/>
                <a:cs typeface="Calibri"/>
              </a:rPr>
              <a:t>persistence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E36BB-D970-673F-710B-991DF3DF7D82}"/>
              </a:ext>
            </a:extLst>
          </p:cNvPr>
          <p:cNvSpPr txBox="1"/>
          <p:nvPr/>
        </p:nvSpPr>
        <p:spPr>
          <a:xfrm>
            <a:off x="6317201" y="1372075"/>
            <a:ext cx="191044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Calibri"/>
                <a:cs typeface="Calibri"/>
              </a:rPr>
              <a:t>Low p</a:t>
            </a:r>
            <a:r>
              <a:rPr lang="en-US" sz="1000" dirty="0">
                <a:ea typeface="Calibri"/>
                <a:cs typeface="Calibri"/>
              </a:rPr>
              <a:t>ersistence</a:t>
            </a:r>
            <a:endParaRPr lang="en-US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9014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The church persistence index</a:t>
            </a:r>
            <a:endParaRPr lang="en-US" sz="2500"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8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u="sng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construction detail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822960" y="93268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932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1737360" y="1124712"/>
            <a:ext cx="164592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01952" y="93268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932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816352" y="1124712"/>
            <a:ext cx="164592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80944" y="93268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932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3895344" y="1124712"/>
            <a:ext cx="164592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59936" y="93268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932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974336" y="1124712"/>
            <a:ext cx="164592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38928" y="93268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5138928" y="9326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index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6995160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→ weight by rank-agreement → composite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1.  Robust standardization within each decade for county </a:t>
            </a:r>
            <a:r>
              <a:rPr lang="en-US" sz="1250" b="1" dirty="0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25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 year t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2" name="Image 0" descr="/Users/kimballweeks/Downloads/weberian-economy/figures/eq_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737360"/>
            <a:ext cx="2103120" cy="74001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2487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2. Weight decades by cross-decade rank agreement (Spearman ρ) for the fours</a:t>
            </a:r>
            <a:r>
              <a:rPr lang="en-US" sz="125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years in T and average</a:t>
            </a:r>
            <a:endParaRPr lang="en-US" sz="1250" dirty="0"/>
          </a:p>
        </p:txBody>
      </p:sp>
      <p:pic>
        <p:nvPicPr>
          <p:cNvPr id="24" name="Image 1" descr="/Users/kimballweeks/Downloads/weberian-economy/figures/eq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779776"/>
            <a:ext cx="4023360" cy="66667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8640" y="35295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Weighted composite, then re-standardize across counties</a:t>
            </a:r>
            <a:endParaRPr lang="en-US" sz="1250"/>
          </a:p>
        </p:txBody>
      </p:sp>
      <p:pic>
        <p:nvPicPr>
          <p:cNvPr id="26" name="Image 2" descr="/Users/kimballweeks/Downloads/weberian-economy/figures/eq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803904"/>
            <a:ext cx="5394960" cy="771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distribution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9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u="sng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all four heatmaps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6858000" y="164592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300" b="1" dirty="0">
              <a:solidFill>
                <a:srgbClr val="1B2A4A"/>
              </a:solidFill>
              <a:ea typeface="Calibri"/>
              <a:cs typeface="Calibri"/>
            </a:endParaRPr>
          </a:p>
        </p:txBody>
      </p:sp>
      <p:pic>
        <p:nvPicPr>
          <p:cNvPr id="9" name="Picture 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CD7180A6-09EA-9DA0-9836-1E85DDADA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87" y="1008290"/>
            <a:ext cx="6151243" cy="3555547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3C913822-5289-9807-2703-C58F96A4D62D}"/>
              </a:ext>
            </a:extLst>
          </p:cNvPr>
          <p:cNvSpPr/>
          <p:nvPr/>
        </p:nvSpPr>
        <p:spPr>
          <a:xfrm>
            <a:off x="6859632" y="1009105"/>
            <a:ext cx="2054135" cy="71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Rural interior, not the </a:t>
            </a:r>
            <a:r>
              <a:rPr lang="en-US" sz="140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coasts. </a:t>
            </a:r>
            <a:r>
              <a:rPr lang="en-US" sz="1400">
                <a:latin typeface="Calibri"/>
                <a:ea typeface="Calibri"/>
                <a:cs typeface="Calibri"/>
              </a:rPr>
              <a:t>Highest in the </a:t>
            </a:r>
            <a:r>
              <a:rPr lang="en-US" sz="1400" dirty="0">
                <a:latin typeface="Calibri"/>
                <a:ea typeface="Calibri"/>
                <a:cs typeface="Calibri"/>
              </a:rPr>
              <a:t>northern Plains and Upper Midwest, and across the rural South and Appalachia.</a:t>
            </a:r>
            <a:endParaRPr lang="en-US" sz="1400" dirty="0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140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Lowest in the metros.</a:t>
            </a:r>
            <a:endParaRPr lang="en-US" sz="1400" dirty="0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Northeast corridor, coastal California, Pacific Northwest, South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Flordia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140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Inverse of population </a:t>
            </a:r>
            <a:endParaRPr lang="en-US" sz="1400" dirty="0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specification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10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u="sng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full robustness tables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(county i in state s):</a:t>
            </a:r>
            <a:endParaRPr lang="en-US" sz="1350"/>
          </a:p>
        </p:txBody>
      </p:sp>
      <p:pic>
        <p:nvPicPr>
          <p:cNvPr id="7" name="Image 0" descr="/Users/kimballweeks/Downloads/weberian-economy/figures/eq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98448"/>
            <a:ext cx="6400800" cy="6282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44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Key outcome: New establishment births 2022</a:t>
            </a:r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Estimation.  </a:t>
            </a:r>
            <a:r>
              <a:rPr lang="en-US" sz="13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with state fixed effects and HC3 robust standard errors; standardized controls are z-scored prior to estimation.</a:t>
            </a:r>
            <a:endParaRPr lang="en-US" sz="135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8DDAFEF-1E49-3FC6-CB7B-66EA53F2E06A}"/>
              </a:ext>
            </a:extLst>
          </p:cNvPr>
          <p:cNvSpPr/>
          <p:nvPr/>
        </p:nvSpPr>
        <p:spPr>
          <a:xfrm>
            <a:off x="548640" y="2057399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Zᵢ</a:t>
            </a:r>
            <a:r>
              <a:rPr lang="en-US" sz="13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standardized 1989 income · standardized 1990 education · log population (2010).</a:t>
            </a:r>
            <a:endParaRPr lang="en-US" sz="1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381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u="sng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robustness &amp; diagnostics</a:t>
            </a:r>
            <a:endParaRPr lang="en-US" sz="105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285508"/>
              </p:ext>
            </p:extLst>
          </p:nvPr>
        </p:nvGraphicFramePr>
        <p:xfrm>
          <a:off x="548640" y="1148443"/>
          <a:ext cx="5037631" cy="2926080"/>
        </p:xfrm>
        <a:graphic>
          <a:graphicData uri="http://schemas.openxmlformats.org/drawingml/2006/table">
            <a:tbl>
              <a:tblPr/>
              <a:tblGrid>
                <a:gridCol w="24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2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log(1 + </a:t>
                      </a: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NewEstab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2022)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Church persistence index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0.0559***  (0.014)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1989 (std)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       0.0682***  </a:t>
                      </a:r>
                      <a:r>
                        <a:rPr lang="en-US" sz="1250" dirty="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(0.012)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Education 1990 (std)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       0.2118***  (0.018)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log(Population 2010)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       1.0197***  (0.010)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fixed effects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2,968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63046" y="1149531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5863046" y="1240971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+5.75%</a:t>
            </a:r>
            <a:endParaRPr lang="en-US" sz="40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 births per capita,</a:t>
            </a:r>
            <a:endParaRPr lang="en-US" sz="40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one-SD of persistence</a:t>
            </a:r>
            <a:endParaRPr lang="en-US" sz="4000"/>
          </a:p>
        </p:txBody>
      </p:sp>
      <p:sp>
        <p:nvSpPr>
          <p:cNvPr id="6" name="Text 7"/>
          <p:cNvSpPr/>
          <p:nvPr/>
        </p:nvSpPr>
        <p:spPr>
          <a:xfrm>
            <a:off x="5863046" y="2841171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100·(e^0.0559 − 1).  Among counties alike today in size, income, and educational history, those whose institutions endured make more new businesses.</a:t>
            </a:r>
            <a:endParaRPr lang="en-US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u="sng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all robustness tables (A1–A7)</a:t>
            </a:r>
            <a:endParaRPr lang="en-US" sz="1050"/>
          </a:p>
        </p:txBody>
      </p:sp>
      <p:pic>
        <p:nvPicPr>
          <p:cNvPr id="6" name="Image 0" descr="/Users/kimballweeks/Downloads/weberian-economy/figures/forest_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6217920" cy="27152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1371600"/>
            <a:ext cx="1783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across:</a:t>
            </a:r>
            <a:endParaRPr lang="en-US" sz="120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any single control; adding 2020 church density; a two-period (1890–1990) index.</a:t>
            </a:r>
            <a:endParaRPr lang="en-US" sz="1200"/>
          </a:p>
          <a:p>
            <a:pPr marL="0" indent="0">
              <a:lnSpc>
                <a:spcPct val="108000"/>
              </a:lnSpc>
              <a:buNone/>
            </a:pPr>
            <a:endParaRPr lang="en-US" sz="1200"/>
          </a:p>
          <a:p>
            <a:pPr marL="0" indent="0">
              <a:lnSpc>
                <a:spcPct val="108000"/>
              </a:lnSpc>
              <a:buNone/>
            </a:pPr>
            <a:endParaRPr lang="en-US" sz="1200" b="1" dirty="0">
              <a:solidFill>
                <a:srgbClr val="1B2A4A"/>
              </a:solidFill>
              <a:ea typeface="Calibri"/>
              <a:cs typeface="Calibri"/>
            </a:endParaRPr>
          </a:p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without state FE the estimate weakens (identification is within-</a:t>
            </a:r>
            <a:r>
              <a:rPr lang="en-US" sz="12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state) but stays within confidence interval of all other estimates</a:t>
            </a:r>
            <a:endParaRPr lang="en-US" sz="1200" dirty="0">
              <a:solidFill>
                <a:srgbClr val="23262B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482" y="289124"/>
            <a:ext cx="88185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Was Weber right? the human-capital channel</a:t>
            </a:r>
            <a:endParaRPr lang="en-US" sz="2500" b="1" dirty="0">
              <a:solidFill>
                <a:srgbClr val="1B2A4A"/>
              </a:solidFill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874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2023</a:t>
            </a:r>
            <a:endParaRPr lang="en-US" sz="13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HS+ attainment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EEF1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74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firm births</a:t>
            </a:r>
            <a:endParaRPr lang="en-US" sz="13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log(1+NewEstab)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743200" y="1874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0.401***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669280" y="2286000"/>
            <a:ext cx="64008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77840" y="1874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0.209***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1737360" y="2926080"/>
            <a:ext cx="566928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dash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92608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association — </a:t>
            </a:r>
            <a:r>
              <a:rPr lang="en-US" sz="1200" b="1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91% of the total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Mediation.  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Adding Education</a:t>
            </a:r>
            <a:r>
              <a:rPr lang="en-US" sz="1350" baseline="-400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2023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to the baseline attenuates β</a:t>
            </a:r>
            <a:r>
              <a:rPr lang="en-US" sz="1350" baseline="-400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from </a:t>
            </a:r>
            <a:r>
              <a:rPr lang="en-US" sz="135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0.0559 → 0.0509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 (λ = 0.014***).  Education mediates only </a:t>
            </a:r>
            <a:r>
              <a:rPr lang="en-US" sz="1350" b="1">
                <a:solidFill>
                  <a:srgbClr val="9A6B12"/>
                </a:solidFill>
                <a:latin typeface="Calibri"/>
                <a:ea typeface="Calibri"/>
                <a:cs typeface="Calibri"/>
              </a:rPr>
              <a:t>≈ 9%,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the channel is real but partial; most of the effect operates elsewhere.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Mechanism: beyond formal schooling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of the persistence effect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22376" cy="457200"/>
          </a:xfrm>
          <a:prstGeom prst="rect">
            <a:avLst/>
          </a:prstGeom>
          <a:solidFill>
            <a:srgbClr val="9A6B12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280160"/>
            <a:ext cx="7324344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271016" y="1280160"/>
            <a:ext cx="732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≈ 91%   (not separately identified)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128157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5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Trust, norms &amp; networks.  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Repeated congregational interaction builds bonding social capital; churches act as low-cost financial </a:t>
            </a:r>
            <a:r>
              <a:rPr lang="en-US" sz="135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middlemen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 for informal contracts, reputational checks, and credit introductions.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905397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Substitute civic infrastructure.  </a:t>
            </a:r>
            <a:r>
              <a:rPr lang="en-US" sz="13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Where public capacity was thin, churches supplied meeting space, youth and adult </a:t>
            </a:r>
            <a:r>
              <a:rPr lang="en-US" sz="135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education, and informal insurance, scaffolding for entry.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819797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9A6B12"/>
                </a:solidFill>
                <a:latin typeface="Calibri"/>
                <a:ea typeface="Calibri"/>
                <a:cs typeface="Calibri"/>
              </a:rPr>
              <a:t>Caveat.  </a:t>
            </a:r>
            <a:r>
              <a:rPr lang="en-US" sz="1400" i="1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The intensive-margin pattern (more enterprise per resident, not more residents) fits this story, but the residual is interpreted, not measured. Denomination-level data, further </a:t>
            </a:r>
            <a:r>
              <a:rPr lang="en-US" sz="1400">
                <a:solidFill>
                  <a:srgbClr val="23262B"/>
                </a:solidFill>
                <a:ea typeface="+mn-lt"/>
                <a:cs typeface="+mn-lt"/>
              </a:rPr>
              <a:t>decomposition</a:t>
            </a:r>
            <a:r>
              <a:rPr lang="en-US" sz="1400" i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, and casual </a:t>
            </a:r>
            <a:r>
              <a:rPr lang="en-US" sz="1400" i="1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identification is the next step.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Continuity vs. initial conditions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0" y="457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u="sng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1890-population variant (A4)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test: 1890 church density alone, then both measures together.</a:t>
            </a:r>
            <a:endParaRPr lang="en-US" sz="14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log(1 + NewEstab 2022)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1890 only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Both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index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0.0532***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1890 church density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&amp; state FE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3810"/>
            </a:avLst>
          </a:prstGeom>
          <a:solidFill>
            <a:srgbClr val="F5F4F1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56616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  </a:t>
            </a:r>
            <a:r>
              <a:rPr lang="en-US" sz="13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 density is indistinguishable from zero, alone or alongside the index; persistence survives. This challenges the deep-roots framing (Becker &amp; Woessmann 2009; Nunn 2009): what institutions </a:t>
            </a:r>
            <a:r>
              <a:rPr lang="en-US" sz="1350" b="1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over time</a:t>
            </a:r>
            <a:r>
              <a:rPr lang="en-US" sz="13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matters more than how intense they were at the start.</a:t>
            </a:r>
            <a:endParaRPr lang="en-US"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Adding contemporary church density </a:t>
            </a:r>
            <a:endParaRPr lang="en-US" sz="2500" b="1">
              <a:solidFill>
                <a:srgbClr val="1B2A4A"/>
              </a:solidFill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16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456686"/>
              </p:ext>
            </p:extLst>
          </p:nvPr>
        </p:nvGraphicFramePr>
        <p:xfrm>
          <a:off x="1371600" y="1234440"/>
          <a:ext cx="6400800" cy="287731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log(1 + </a:t>
                      </a: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NewEstab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2022)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index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0.1002***  (0.028)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 density 2020 (per 1,000)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                 −0.0334  (0.019)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1989 (std)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            0.0673***  </a:t>
                      </a:r>
                      <a:r>
                        <a:rPr lang="en-US" sz="1250" dirty="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(0.012)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1990 (std)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            0.2100***  (0.018)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log(Population 2010)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            1.0196***  </a:t>
                      </a:r>
                      <a:r>
                        <a:rPr lang="en-US" sz="1250" dirty="0">
                          <a:solidFill>
                            <a:srgbClr val="23262B"/>
                          </a:solidFill>
                          <a:latin typeface="Calibri"/>
                          <a:ea typeface="Calibri"/>
                          <a:cs typeface="Calibri"/>
                        </a:rPr>
                        <a:t>(0.010)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FE · N · R²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· 2,968 · 0.954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371600" y="3703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i="1">
                <a:solidFill>
                  <a:schemeClr val="bg2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Persistence survives and strengthens when present-day church density is included; 2020 density itself is insignificant and negative. The result reflects long-run continuity, not contemporary religiosity and mirrors </a:t>
            </a:r>
            <a:r>
              <a:rPr lang="en-US" sz="1250">
                <a:solidFill>
                  <a:schemeClr val="bg2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Petach &amp; Powell (2023)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/>
                <a:ea typeface="Cambria"/>
              </a:rPr>
              <a:t>Limitations</a:t>
            </a:r>
            <a:endParaRPr lang="en-US" sz="2500"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17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Causal identification.  </a:t>
            </a:r>
            <a:r>
              <a:rPr lang="en-US" sz="13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Correlation </a:t>
            </a:r>
            <a:r>
              <a:rPr lang="en-US" sz="13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association. Persistence isn't randomly assigned.  </a:t>
            </a:r>
            <a:endParaRPr lang="en-US" sz="1300" i="1">
              <a:solidFill>
                <a:srgbClr val="9A6B1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1383" y="1587101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Unobserved confounders.  </a:t>
            </a:r>
            <a:r>
              <a:rPr lang="en-US" sz="13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May proxy for slow-moving traits like political culture, migration selectivity, social capital. </a:t>
            </a:r>
            <a:endParaRPr lang="en-US" sz="1300" i="1">
              <a:solidFill>
                <a:srgbClr val="9A6B1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497" y="2185235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Measurement &amp; heterogeneity.  </a:t>
            </a:r>
            <a:r>
              <a:rPr lang="en-US" sz="13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1890 is noisy; the index pools very different denominations (Mormon Utah ≠ rural </a:t>
            </a:r>
            <a:r>
              <a:rPr lang="en-US" sz="13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South). </a:t>
            </a:r>
            <a:endParaRPr lang="en-US" sz="1300" i="1">
              <a:solidFill>
                <a:srgbClr val="9A6B1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960120" y="11887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50" dirty="0">
                <a:solidFill>
                  <a:schemeClr val="bg1"/>
                </a:solidFill>
                <a:ea typeface="+mn-lt"/>
                <a:cs typeface="+mn-lt"/>
              </a:rPr>
              <a:t>Persistence matters.</a:t>
            </a:r>
            <a:r>
              <a:rPr lang="en-US" sz="1450" dirty="0">
                <a:solidFill>
                  <a:srgbClr val="A6A59B"/>
                </a:solidFill>
                <a:ea typeface="+mn-lt"/>
                <a:cs typeface="+mn-lt"/>
              </a:rPr>
              <a:t> </a:t>
            </a:r>
            <a:r>
              <a:rPr lang="en-US" sz="1450" dirty="0">
                <a:solidFill>
                  <a:schemeClr val="tx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A one-SD increase in church persistence is associated with ≈ 5.75% more new </a:t>
            </a:r>
            <a:r>
              <a:rPr lang="en-US" sz="1450">
                <a:solidFill>
                  <a:schemeClr val="tx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establishment births per capita conditional on income, education, population, and state fixed affects.</a:t>
            </a:r>
            <a:endParaRPr lang="en-US" sz="145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Continuity, not initial conditions.  </a:t>
            </a:r>
            <a:r>
              <a:rPr lang="en-US" sz="145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 density alone predicts nothing; what institutions do over time is what carries.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human-capital channel.  </a:t>
            </a:r>
            <a:r>
              <a:rPr lang="en-US" sz="145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 runs through schooling; trust, networks, and civic coordination are the suggested remainder.</a:t>
            </a:r>
            <a:endParaRPr lang="en-US" sz="14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6B84A58-C651-C70B-BFA3-8509FAA9DDF4}"/>
              </a:ext>
            </a:extLst>
          </p:cNvPr>
          <p:cNvSpPr/>
          <p:nvPr/>
        </p:nvSpPr>
        <p:spPr>
          <a:xfrm>
            <a:off x="548640" y="164241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libri" panose="020F0502020204030204"/>
              </a:rPr>
              <a:t>Thank You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45C3B9-4973-AEC2-F307-25FD686F89AB}"/>
              </a:ext>
            </a:extLst>
          </p:cNvPr>
          <p:cNvCxnSpPr/>
          <p:nvPr/>
        </p:nvCxnSpPr>
        <p:spPr>
          <a:xfrm flipV="1">
            <a:off x="1078476" y="2306278"/>
            <a:ext cx="7302292" cy="7375"/>
          </a:xfrm>
          <a:prstGeom prst="straightConnector1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C7260D-04CA-1D37-6643-A7BD4873438F}"/>
              </a:ext>
            </a:extLst>
          </p:cNvPr>
          <p:cNvCxnSpPr>
            <a:cxnSpLocks/>
          </p:cNvCxnSpPr>
          <p:nvPr/>
        </p:nvCxnSpPr>
        <p:spPr>
          <a:xfrm flipV="1">
            <a:off x="1078475" y="3315621"/>
            <a:ext cx="7302292" cy="7375"/>
          </a:xfrm>
          <a:prstGeom prst="straightConnector1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F4D589-A16C-4067-2649-EC19ABC29AC4}"/>
              </a:ext>
            </a:extLst>
          </p:cNvPr>
          <p:cNvSpPr txBox="1"/>
          <p:nvPr/>
        </p:nvSpPr>
        <p:spPr>
          <a:xfrm>
            <a:off x="2710015" y="2387396"/>
            <a:ext cx="503841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Kimball Weeks      –      University of Oregon  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8528DE7-2383-6C77-EA01-1A960DB37F56}"/>
              </a:ext>
            </a:extLst>
          </p:cNvPr>
          <p:cNvSpPr txBox="1"/>
          <p:nvPr/>
        </p:nvSpPr>
        <p:spPr>
          <a:xfrm>
            <a:off x="3341430" y="2829847"/>
            <a:ext cx="503841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Kimballw@uoregon.edu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9B6EAF6D-CBB9-DB71-C3E1-3A65E253D555}"/>
              </a:ext>
            </a:extLst>
          </p:cNvPr>
          <p:cNvSpPr/>
          <p:nvPr/>
        </p:nvSpPr>
        <p:spPr>
          <a:xfrm>
            <a:off x="705341" y="332004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libri" panose="020F0502020204030204"/>
              </a:rPr>
              <a:t>Comments and questions welcome.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make this causal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20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0476" y="153439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0476" y="15343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007800" y="158550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Migration waves.  </a:t>
            </a:r>
            <a:r>
              <a:rPr lang="en-US" sz="13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Origin-county push factors differentially disrupted local church networks</a:t>
            </a:r>
          </a:p>
        </p:txBody>
      </p:sp>
      <p:sp>
        <p:nvSpPr>
          <p:cNvPr id="9" name="Shape 7"/>
          <p:cNvSpPr/>
          <p:nvPr/>
        </p:nvSpPr>
        <p:spPr>
          <a:xfrm>
            <a:off x="540476" y="213790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40476" y="2137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015964" y="21196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Church consolidations &amp; mergers.  </a:t>
            </a:r>
            <a:r>
              <a:rPr lang="en-US" sz="13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Mid-20th century denomination mergers altered local religious infrastructure for </a:t>
            </a:r>
            <a:r>
              <a:rPr lang="en-US" sz="130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organizational, not economic, reasons affecting the number of churches in some counties but not others</a:t>
            </a:r>
            <a:endParaRPr lang="en-US" sz="1300">
              <a:solidFill>
                <a:srgbClr val="23262B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0476" y="274140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0476" y="27414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015964" y="272311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disasters.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that destroyed or rebuilt congregational stock shifted institutional continuity exogenously.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52722" y="3459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9A6B12"/>
                </a:solidFill>
                <a:latin typeface="Calibri"/>
                <a:ea typeface="Calibri"/>
                <a:cs typeface="Calibri"/>
              </a:rPr>
              <a:t>Plus:  </a:t>
            </a:r>
            <a:r>
              <a:rPr lang="en-US" sz="125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matched county designs, placebo outcomes, and linking counties to micro data on firm founding teams and credit </a:t>
            </a:r>
            <a:r>
              <a:rPr lang="en-US" sz="1250" dirty="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relationships to pin down the channel.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B73A151-F415-9B77-F300-D28251510294}"/>
              </a:ext>
            </a:extLst>
          </p:cNvPr>
          <p:cNvSpPr/>
          <p:nvPr/>
        </p:nvSpPr>
        <p:spPr>
          <a:xfrm>
            <a:off x="550600" y="813979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>
                <a:ea typeface="+mn-lt"/>
                <a:cs typeface="+mn-lt"/>
              </a:rPr>
              <a:t>find a shock that changed institutional continuity for reasons unrelated to the local economy, then compare counties that got the shock to those that didn't.</a:t>
            </a:r>
          </a:p>
        </p:txBody>
      </p:sp>
    </p:spTree>
    <p:extLst>
      <p:ext uri="{BB962C8B-B14F-4D97-AF65-F5344CB8AC3E}">
        <p14:creationId xmlns:p14="http://schemas.microsoft.com/office/powerpoint/2010/main" val="2624133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· Summary statistics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21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index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−1.72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index (1890–1990)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−2.23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establishments, 2022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273.5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1,113.2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38,467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3,004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Population, 1890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22,258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54,068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1,515,301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2,716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Population, 2010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98,233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315,734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9,818,605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Population, 2023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106,664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335,829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9,663,345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HH income, 1989 ($2023)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58,136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15,572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21,016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144,959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attainment, 1990 (%)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establishments, 1989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231.4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837.9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26,540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3,013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samples range from ~2,600 to ~3,055 counties depending on data coverage by year.</a:t>
            </a:r>
            <a:endParaRPr lang="en-US" sz="10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· Spatial distribution of key variables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22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pic>
        <p:nvPicPr>
          <p:cNvPr id="15" name="Picture 1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DB40639-3D33-F6B1-0322-1677E078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69" y="840921"/>
            <a:ext cx="6414622" cy="42821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Appendix · Education channel </a:t>
            </a:r>
            <a:endParaRPr lang="en-US" sz="2500"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23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26334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Education 2023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log(1+NewEstab)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index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0.4007***  (0.141)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1989 (std)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−0.2184  (0.127)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0.0613***  (0.012)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1990 (std)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5.4929***  (0.188)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0.2088***  (0.018)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log(Population 2010)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−0.2307***  (0.092)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0.9962***  (0.008)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FE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2,968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</a:t>
            </a:r>
            <a:r>
              <a:rPr lang="en-US" sz="12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→ modern education;   </a:t>
            </a: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</a:t>
            </a:r>
            <a:r>
              <a:rPr lang="en-US" sz="12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schooling → firm births. The two legs of the human-capital chain.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 p &lt; 0.01. HC3 robust SE in parentheses.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· Mediation (attenuation test)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24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pic>
        <p:nvPicPr>
          <p:cNvPr id="6" name="Image 0" descr="/Users/kimballweeks/Downloads/weberian-economy/figures/eq_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143000"/>
            <a:ext cx="5120640" cy="766448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286000"/>
          <a:ext cx="6949440" cy="14630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log(1 + NewEstab 2022)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Educ 2023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Educ 2023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index (β₁)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0.0559***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0.0509***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2023 (λ)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0.0140***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share mediated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097280" y="4114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common sample in both columns. The attenuation of β₁ when contemporary education enters is the share mediated by human capital — modest but nonzero.</a:t>
            </a:r>
            <a:endParaRPr lang="en-US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Appendix · Robustness: drop-one controls </a:t>
            </a:r>
            <a:endParaRPr lang="en-US" sz="2500"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25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234440"/>
          <a:ext cx="6949440" cy="1828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(SE)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0.0559***  (0.014)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income 1989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0.0475***  (0.014)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education 1990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0.0485***  (0.014)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log(Pop 2010)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−0.8241***  (0.028)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97280" y="3108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is stable to dropping income or education. </a:t>
            </a: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log(Pop) flips the sign — population is intrinsic to the per-capita outcome, not an optional control</a:t>
            </a:r>
            <a:r>
              <a:rPr lang="en-US" sz="12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(R² collapses to 0.70).  State FE retained throughout; N = 2,968.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1097280" y="4023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(no income &amp; no education): 0.0081 (0.015), R² = 0.945 (Table A2).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Appendix · Population control &amp; the intensive margin </a:t>
            </a:r>
            <a:endParaRPr lang="en-US" sz="2500" b="1">
              <a:solidFill>
                <a:srgbClr val="1B2A4A"/>
              </a:solidFill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26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7315200" cy="1828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log(1 + NewEstab 2022)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Pop 2010 control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Pop 1890 control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index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0.0559***  (0.014)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−0.6986***  (0.029)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controls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FE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 · R²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2,968 · 0.954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2,652 · 0.756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3291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sign flips.  </a:t>
            </a:r>
            <a:r>
              <a:rPr lang="en-US" sz="12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</a:t>
            </a:r>
            <a:r>
              <a:rPr lang="en-US" sz="1250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</a:t>
            </a:r>
            <a:r>
              <a:rPr lang="en-US" sz="12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population (the right per-capita scale) gives the positive intensive-margin result. Substituting sparse, noisy </a:t>
            </a:r>
            <a:r>
              <a:rPr lang="en-US" sz="1250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</a:t>
            </a:r>
            <a:r>
              <a:rPr lang="en-US" sz="125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population mis-scales the outcome (N falls to 2,652, R² to 0.76) and is not the headline specification.</a:t>
            </a:r>
            <a:endParaRPr lang="en-US" sz="12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Appendix · No state FE &amp; alternative index </a:t>
            </a:r>
            <a:endParaRPr lang="en-US" sz="2500" b="1">
              <a:solidFill>
                <a:srgbClr val="1B2A4A"/>
              </a:solidFill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27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7680960" cy="197510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log(1 + NewEstab 2022)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(A5) No state FE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(A6) Two-period index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/ two-year index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0.0205  (0.013)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0.0375***  (0.011)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1989 (std)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0.0725***  (0.011)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0.0642***  (0.012)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1990 (std)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0.1776***  (0.011)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0.2092***  (0.018)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log(Population 2010)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0.9893***  (0.009)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1.0103***  (0.009)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FE · N · R²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· 2,968 · 0.936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· 2,968 · 0.954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state FE</a:t>
            </a:r>
            <a:r>
              <a:rPr lang="en-US" sz="1250" i="1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persistence is positive but insignificant — identification is </a:t>
            </a:r>
            <a:r>
              <a:rPr lang="en-US" sz="1250" b="1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within-state</a:t>
            </a:r>
            <a:r>
              <a:rPr lang="en-US" sz="1250" i="1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two-period (1890–1990) index gives 0.0375*** — the result is not driven by the modern decades alone.</a:t>
            </a:r>
            <a:endParaRPr lang="en-US" sz="12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· Residual diagnostics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28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QQ, histogram, residuals-vs-fitted, and Cook's distance for the baseline OLS.  </a:t>
            </a: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normality, no extreme outliers (all below the 0.5 cutoff). Breusch–Pagan rejects homoskedasticity (LM = 261.58, p &lt; 0.001) — hence HC3 robust SE throughout.</a:t>
            </a:r>
            <a:endParaRPr lang="en-US" sz="1100"/>
          </a:p>
        </p:txBody>
      </p:sp>
      <p:pic>
        <p:nvPicPr>
          <p:cNvPr id="8" name="Picture 7" descr="A collage of graphs&#10;&#10;AI-generated content may be incorrect.">
            <a:extLst>
              <a:ext uri="{FF2B5EF4-FFF2-40B4-BE49-F238E27FC236}">
                <a16:creationId xmlns:a16="http://schemas.microsoft.com/office/drawing/2014/main" id="{A917B857-8045-6F93-E5D7-31D203B24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64" y="811893"/>
            <a:ext cx="5304566" cy="341085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70AFB21-BFEA-E3FA-9DA6-1FF5BEA083E4}"/>
              </a:ext>
            </a:extLst>
          </p:cNvPr>
          <p:cNvSpPr/>
          <p:nvPr/>
        </p:nvSpPr>
        <p:spPr>
          <a:xfrm>
            <a:off x="411480" y="1645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B2A4A"/>
                </a:solidFill>
                <a:latin typeface="Cambria"/>
                <a:ea typeface="Cambria"/>
              </a:rPr>
              <a:t>Scatter plots </a:t>
            </a:r>
            <a:endParaRPr lang="en-US" sz="2500" b="1" dirty="0">
              <a:solidFill>
                <a:srgbClr val="1B2A4A"/>
              </a:solidFill>
              <a:latin typeface="Cambria"/>
              <a:ea typeface="Cambri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FF3D7E-A264-A061-2FC8-43199EFAB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57" y="667512"/>
            <a:ext cx="3103070" cy="2272284"/>
          </a:xfrm>
          <a:prstGeom prst="rect">
            <a:avLst/>
          </a:prstGeom>
        </p:spPr>
      </p:pic>
      <p:pic>
        <p:nvPicPr>
          <p:cNvPr id="11" name="Picture 10" descr="A graph with dots and a line&#10;&#10;AI-generated content may be incorrect.">
            <a:extLst>
              <a:ext uri="{FF2B5EF4-FFF2-40B4-BE49-F238E27FC236}">
                <a16:creationId xmlns:a16="http://schemas.microsoft.com/office/drawing/2014/main" id="{9067A414-9A4F-FECB-6E49-FFFFA4182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373" y="589788"/>
            <a:ext cx="3180794" cy="23500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6B12F9-8263-D044-564B-798B0D550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41" y="2939796"/>
            <a:ext cx="2895842" cy="2125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6A29A6-DE1F-6A21-4CD2-292E7AFBB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45" y="2939796"/>
            <a:ext cx="3000998" cy="2203704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DFB9F7F8-66CA-52D8-A269-B7AF8FAC429B}"/>
              </a:ext>
            </a:extLst>
          </p:cNvPr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29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5700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CE37F9E-5F76-A9A1-C5B3-74BA7EB8E8C7}"/>
              </a:ext>
            </a:extLst>
          </p:cNvPr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Appendix · Clustering SE's by state </a:t>
            </a:r>
            <a:endParaRPr lang="en-US" sz="25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5E788D-928C-60D6-0C8F-238993E93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827448"/>
              </p:ext>
            </p:extLst>
          </p:nvPr>
        </p:nvGraphicFramePr>
        <p:xfrm>
          <a:off x="607786" y="1342571"/>
          <a:ext cx="8017628" cy="15663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04407">
                  <a:extLst>
                    <a:ext uri="{9D8B030D-6E8A-4147-A177-3AD203B41FA5}">
                      <a16:colId xmlns:a16="http://schemas.microsoft.com/office/drawing/2014/main" val="2255145260"/>
                    </a:ext>
                  </a:extLst>
                </a:gridCol>
                <a:gridCol w="2004407">
                  <a:extLst>
                    <a:ext uri="{9D8B030D-6E8A-4147-A177-3AD203B41FA5}">
                      <a16:colId xmlns:a16="http://schemas.microsoft.com/office/drawing/2014/main" val="4242871666"/>
                    </a:ext>
                  </a:extLst>
                </a:gridCol>
                <a:gridCol w="2004407">
                  <a:extLst>
                    <a:ext uri="{9D8B030D-6E8A-4147-A177-3AD203B41FA5}">
                      <a16:colId xmlns:a16="http://schemas.microsoft.com/office/drawing/2014/main" val="155614461"/>
                    </a:ext>
                  </a:extLst>
                </a:gridCol>
                <a:gridCol w="2004407">
                  <a:extLst>
                    <a:ext uri="{9D8B030D-6E8A-4147-A177-3AD203B41FA5}">
                      <a16:colId xmlns:a16="http://schemas.microsoft.com/office/drawing/2014/main" val="2283548127"/>
                    </a:ext>
                  </a:extLst>
                </a:gridCol>
              </a:tblGrid>
              <a:tr h="28160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endParaRPr lang="en-US" sz="1050" b="0" i="0">
                        <a:solidFill>
                          <a:schemeClr val="bg1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bg1"/>
                          </a:solidFill>
                          <a:effectLst/>
                          <a:latin typeface="Anthropic Sans"/>
                        </a:rPr>
                        <a:t>Coeff 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HC3 SE (p)</a:t>
                      </a:r>
                      <a:endParaRPr lang="en-US" sz="1050" b="0" i="0">
                        <a:solidFill>
                          <a:schemeClr val="bg1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Clustered SE (p)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17977"/>
                  </a:ext>
                </a:extLst>
              </a:tr>
              <a:tr h="321110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Persistence index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0.0559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0.014 (0.000)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0.020 (0.006)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645431"/>
                  </a:ext>
                </a:extLst>
              </a:tr>
              <a:tr h="321110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Income 1989 (std)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0.0682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0.012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0.023 (0.003)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575759"/>
                  </a:ext>
                </a:extLst>
              </a:tr>
              <a:tr h="321110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Education 1990 (std)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0.2118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0.018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0.032 (0.000)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80908"/>
                  </a:ext>
                </a:extLst>
              </a:tr>
              <a:tr h="321110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log(Pop 2010)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1.0197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0.010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US" sz="1050" b="0" i="0">
                          <a:solidFill>
                            <a:schemeClr val="tx1"/>
                          </a:solidFill>
                          <a:effectLst/>
                          <a:latin typeface="Anthropic Sans"/>
                        </a:rPr>
                        <a:t>0.018 (0.000)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151791"/>
                  </a:ext>
                </a:extLst>
              </a:tr>
            </a:tbl>
          </a:graphicData>
        </a:graphic>
      </p:graphicFrame>
      <p:sp>
        <p:nvSpPr>
          <p:cNvPr id="4" name="Text 2">
            <a:extLst>
              <a:ext uri="{FF2B5EF4-FFF2-40B4-BE49-F238E27FC236}">
                <a16:creationId xmlns:a16="http://schemas.microsoft.com/office/drawing/2014/main" id="{FB1BA2A5-C402-EC6C-CC99-F3020FFF32BE}"/>
              </a:ext>
            </a:extLst>
          </p:cNvPr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30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9051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· Persistence index, in detail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31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i="1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reward consistent above-average church density across all four decades — continuity, not a single peak.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z within each decade.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Median/MAD standardization, winsorized at ±3.5 — resistant to 1890's fat tails and outliers.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Spearman-agreement weights.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decade weighted by its average rank-correlation with the others; noisy decades (1890) are down-weighted endogenously.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weighted z-scores; weights re-normalize over observed years for counties missing a decade.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960120" y="37033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Re-standardize across counties.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index is mean 0, SD 1 — so a one-SD move is interpretable across counties.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results hold with a simpler equal-weight index and with a 1890–1990 two-period index (β = 0.0375), so the weighting scheme is not doing the work.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· Data &amp; sample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48640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WEAI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8229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ea typeface="Calibri"/>
                <a:cs typeface="Calibri"/>
              </a:rPr>
              <a:t>32</a:t>
            </a:r>
            <a:endParaRPr lang="en-US" sz="85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back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counts.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ASARB / ARDA U.S. Religion Census (1890, 1990, 2010, 2020) and Carroll (1894) for the 1890 enumeration. Densities are congregations per 1,000 residents.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establishment births from the Census Business Dynamics Statistics — a firm's first period of positive employment; consistent across counties and time.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48640" y="2734056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(real $2023) and educational attainment from U.S. Census / ACS via IPUMS NHGIS (Manson et al. 2025).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48640" y="357530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Exclusions.  </a:t>
            </a:r>
            <a:r>
              <a:rPr lang="en-US" sz="130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Connecticut and Rhode Island (no functional counties) and Alaska (non-aligned boroughs); a few counties with incomplete 1890 coverage (e.g. parts of OK, MT).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samples: ~2,600 (1890-dependent specs) to 3,055 counties — 82–95% of the continental U.S.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Weberian Economy</dc:title>
  <dc:subject>PptxGenJS Presentation</dc:subject>
  <dc:creator>Kimball Weeks</dc:creator>
  <cp:revision>664</cp:revision>
  <dcterms:created xsi:type="dcterms:W3CDTF">2026-06-28T04:42:45Z</dcterms:created>
  <dcterms:modified xsi:type="dcterms:W3CDTF">2026-06-30T23:04:59Z</dcterms:modified>
</cp:coreProperties>
</file>